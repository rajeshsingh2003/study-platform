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handoutMasterIdLst>
    <p:handoutMasterId r:id="rId15"/>
  </p:handoutMasterIdLst>
  <p:sldIdLst>
    <p:sldId id="256" r:id="rId5"/>
    <p:sldId id="271" r:id="rId6"/>
    <p:sldId id="279" r:id="rId7"/>
    <p:sldId id="281" r:id="rId8"/>
    <p:sldId id="280" r:id="rId9"/>
    <p:sldId id="257" r:id="rId10"/>
    <p:sldId id="275" r:id="rId11"/>
    <p:sldId id="276" r:id="rId12"/>
    <p:sldId id="2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79"/>
            <p14:sldId id="281"/>
            <p14:sldId id="280"/>
            <p14:sldId id="257"/>
            <p14:sldId id="275"/>
            <p14:sldId id="276"/>
          </p14:sldIdLst>
        </p14:section>
        <p14:section name="Learn More"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41" autoAdjust="0"/>
  </p:normalViewPr>
  <p:slideViewPr>
    <p:cSldViewPr snapToGrid="0">
      <p:cViewPr varScale="1">
        <p:scale>
          <a:sx n="78" d="100"/>
          <a:sy n="78" d="100"/>
        </p:scale>
        <p:origin x="878" y="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10/22/2024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10/22/2024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10/22/2024</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10/22/2024</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name@domain.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simple-mail-transfer-protocol-smtp/" TargetMode="External"/><Relationship Id="rId2" Type="http://schemas.openxmlformats.org/officeDocument/2006/relationships/hyperlink" Target="https://www.geeksforgeeks.org/the-internet-and-the-web/"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go.microsoft.com/fwlink/?linkid=2235098" TargetMode="External"/><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go.microsoft.com/fwlink/?LinkId=617172" TargetMode="External"/><Relationship Id="rId5" Type="http://schemas.openxmlformats.org/officeDocument/2006/relationships/image" Target="../media/image10.png"/><Relationship Id="rId4" Type="http://schemas.openxmlformats.org/officeDocument/2006/relationships/hyperlink" Target="http://go.microsoft.com/fwlink/?LinkId=623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Electronic mails</a:t>
            </a: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err="1">
                <a:solidFill>
                  <a:schemeClr val="bg1"/>
                </a:solidFill>
                <a:latin typeface="+mj-lt"/>
              </a:rPr>
              <a:t>Introuction</a:t>
            </a:r>
            <a:r>
              <a:rPr lang="en-US" sz="2400" dirty="0">
                <a:solidFill>
                  <a:schemeClr val="bg1"/>
                </a:solidFill>
                <a:latin typeface="+mj-lt"/>
              </a:rPr>
              <a:t> to electronic mails</a:t>
            </a:r>
          </a:p>
        </p:txBody>
      </p:sp>
      <p:pic>
        <p:nvPicPr>
          <p:cNvPr id="4" name="Picture 3" descr="PowerPoint program icon"/>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endParaRPr lang="en-US" dirty="0">
              <a:latin typeface="Segoe UI Light" panose="020B0502040204020203" pitchFamily="34" charset="0"/>
              <a:cs typeface="Segoe UI Light" panose="020B0502040204020203" pitchFamily="34" charset="0"/>
            </a:endParaRPr>
          </a:p>
        </p:txBody>
      </p:sp>
      <p:sp>
        <p:nvSpPr>
          <p:cNvPr id="38" name="Content Placeholder 17"/>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
        <p:nvSpPr>
          <p:cNvPr id="2" name="TextBox 1">
            <a:extLst>
              <a:ext uri="{FF2B5EF4-FFF2-40B4-BE49-F238E27FC236}">
                <a16:creationId xmlns:a16="http://schemas.microsoft.com/office/drawing/2014/main" id="{C73EFF59-A2A2-C685-5FE5-E4CBF9C1F07B}"/>
              </a:ext>
            </a:extLst>
          </p:cNvPr>
          <p:cNvSpPr txBox="1"/>
          <p:nvPr/>
        </p:nvSpPr>
        <p:spPr>
          <a:xfrm>
            <a:off x="541611" y="1759974"/>
            <a:ext cx="11108780" cy="2862322"/>
          </a:xfrm>
          <a:prstGeom prst="rect">
            <a:avLst/>
          </a:prstGeom>
          <a:noFill/>
        </p:spPr>
        <p:txBody>
          <a:bodyPr wrap="square" rtlCol="0">
            <a:spAutoFit/>
          </a:bodyPr>
          <a:lstStyle/>
          <a:p>
            <a:pPr algn="l" fontAlgn="base"/>
            <a:r>
              <a:rPr lang="en-US" i="0" dirty="0">
                <a:effectLst/>
                <a:latin typeface="Nunito" panose="020F0502020204030204" pitchFamily="2" charset="0"/>
              </a:rPr>
              <a:t>Electronic mail, commonly known as email, is a method of exchanging messages over the internet. Here are the basics of email:</a:t>
            </a:r>
          </a:p>
          <a:p>
            <a:pPr algn="l" fontAlgn="base">
              <a:buFont typeface="+mj-lt"/>
              <a:buAutoNum type="arabicPeriod"/>
            </a:pPr>
            <a:r>
              <a:rPr lang="en-US" i="0" dirty="0">
                <a:effectLst/>
                <a:latin typeface="Nunito" panose="020F0502020204030204" pitchFamily="2" charset="0"/>
              </a:rPr>
              <a:t>An email address: This is a unique identifier for each user, typically in the format of </a:t>
            </a:r>
            <a:r>
              <a:rPr lang="en-US" i="0" dirty="0">
                <a:effectLst/>
                <a:latin typeface="Nunito" panose="020F0502020204030204" pitchFamily="2" charset="0"/>
                <a:hlinkClick r:id="rId2"/>
              </a:rPr>
              <a:t>name@domain.com</a:t>
            </a:r>
            <a:r>
              <a:rPr lang="en-US" i="0" dirty="0">
                <a:effectLst/>
                <a:latin typeface="Nunito" panose="020F0502020204030204" pitchFamily="2" charset="0"/>
              </a:rPr>
              <a:t>.</a:t>
            </a:r>
          </a:p>
          <a:p>
            <a:pPr algn="l" fontAlgn="base">
              <a:buFont typeface="+mj-lt"/>
              <a:buAutoNum type="arabicPeriod"/>
            </a:pPr>
            <a:endParaRPr lang="en-US" i="0" dirty="0">
              <a:effectLst/>
              <a:latin typeface="Nunito" panose="020F0502020204030204" pitchFamily="2" charset="0"/>
            </a:endParaRPr>
          </a:p>
          <a:p>
            <a:pPr algn="l" fontAlgn="base">
              <a:buFont typeface="+mj-lt"/>
              <a:buAutoNum type="arabicPeriod"/>
            </a:pPr>
            <a:r>
              <a:rPr lang="en-US" i="0" dirty="0">
                <a:effectLst/>
                <a:latin typeface="Nunito" panose="020F0502020204030204" pitchFamily="2" charset="0"/>
              </a:rPr>
              <a:t>An email client: This is a software program used to send, receive and manage emails, such as Gmail, Outlook, or Apple Mail.</a:t>
            </a:r>
          </a:p>
          <a:p>
            <a:pPr algn="l" fontAlgn="base">
              <a:buFont typeface="+mj-lt"/>
              <a:buAutoNum type="arabicPeriod"/>
            </a:pPr>
            <a:endParaRPr lang="en-US" i="0" dirty="0">
              <a:effectLst/>
              <a:latin typeface="Nunito" panose="020F0502020204030204" pitchFamily="2" charset="0"/>
            </a:endParaRPr>
          </a:p>
          <a:p>
            <a:pPr algn="l" fontAlgn="base">
              <a:buFont typeface="+mj-lt"/>
              <a:buAutoNum type="arabicPeriod"/>
            </a:pPr>
            <a:r>
              <a:rPr lang="en-US" i="0" dirty="0">
                <a:effectLst/>
                <a:latin typeface="Nunito" panose="020F0502020204030204" pitchFamily="2" charset="0"/>
              </a:rPr>
              <a:t>An email server: This is a computer system responsible for storing and forwarding emails to their intended recipients.</a:t>
            </a:r>
          </a:p>
          <a:p>
            <a:endParaRPr lang="en-US" dirty="0"/>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dirty="0">
              <a:latin typeface="Segoe UI Light" panose="020B0502040204020203" pitchFamily="34" charset="0"/>
              <a:cs typeface="Segoe UI Light" panose="020B0502040204020203" pitchFamily="34" charset="0"/>
            </a:endParaRPr>
          </a:p>
        </p:txBody>
      </p:sp>
      <p:sp>
        <p:nvSpPr>
          <p:cNvPr id="25" name="Content Placeholder 17"/>
          <p:cNvSpPr txBox="1">
            <a:spLocks/>
          </p:cNvSpPr>
          <p:nvPr/>
        </p:nvSpPr>
        <p:spPr>
          <a:xfrm>
            <a:off x="541609" y="1455491"/>
            <a:ext cx="11532404" cy="3873593"/>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2000"/>
              </a:spcAft>
              <a:buNone/>
            </a:pPr>
            <a:r>
              <a:rPr lang="en-US" sz="1800" b="1" i="0" dirty="0">
                <a:solidFill>
                  <a:schemeClr val="tx1"/>
                </a:solidFill>
                <a:effectLst/>
                <a:latin typeface="Nunito" pitchFamily="2" charset="0"/>
              </a:rPr>
              <a:t>Electronic Mail</a:t>
            </a:r>
            <a:r>
              <a:rPr lang="en-US" sz="1800" b="0" i="0" dirty="0">
                <a:solidFill>
                  <a:schemeClr val="tx1"/>
                </a:solidFill>
                <a:effectLst/>
                <a:latin typeface="Nunito" pitchFamily="2" charset="0"/>
              </a:rPr>
              <a:t> (e-mail) is one of most widely used services of </a:t>
            </a:r>
            <a:r>
              <a:rPr lang="en-US" sz="1800" b="0" i="0" u="sng" dirty="0">
                <a:solidFill>
                  <a:schemeClr val="tx1"/>
                </a:solidFill>
                <a:effectLst/>
                <a:latin typeface="Nunito" pitchFamily="2" charset="0"/>
                <a:hlinkClick r:id="rId2">
                  <a:extLst>
                    <a:ext uri="{A12FA001-AC4F-418D-AE19-62706E023703}">
                      <ahyp:hlinkClr xmlns:ahyp="http://schemas.microsoft.com/office/drawing/2018/hyperlinkcolor" val="tx"/>
                    </a:ext>
                  </a:extLst>
                </a:hlinkClick>
              </a:rPr>
              <a:t>Internet</a:t>
            </a:r>
            <a:r>
              <a:rPr lang="en-US" sz="1800" b="0" i="0" dirty="0">
                <a:solidFill>
                  <a:schemeClr val="tx1"/>
                </a:solidFill>
                <a:effectLst/>
                <a:latin typeface="Nunito" pitchFamily="2" charset="0"/>
              </a:rPr>
              <a:t>. This service allows an Internet user to send a </a:t>
            </a:r>
            <a:r>
              <a:rPr lang="en-US" sz="1800" b="1" i="0" dirty="0">
                <a:solidFill>
                  <a:schemeClr val="tx1"/>
                </a:solidFill>
                <a:effectLst/>
                <a:latin typeface="Nunito" pitchFamily="2" charset="0"/>
              </a:rPr>
              <a:t>message in formatted manner (mail)</a:t>
            </a:r>
            <a:r>
              <a:rPr lang="en-US" sz="1800" b="0" i="0" dirty="0">
                <a:solidFill>
                  <a:schemeClr val="tx1"/>
                </a:solidFill>
                <a:effectLst/>
                <a:latin typeface="Nunito" pitchFamily="2" charset="0"/>
              </a:rPr>
              <a:t> to the other Internet user in any part of world. Message in mail not only contain text, but it also contains images, audio and videos data. The person who is sending mail is called </a:t>
            </a:r>
            <a:r>
              <a:rPr lang="en-US" sz="1800" b="1" i="0" dirty="0">
                <a:solidFill>
                  <a:schemeClr val="tx1"/>
                </a:solidFill>
                <a:effectLst/>
                <a:latin typeface="Nunito" pitchFamily="2" charset="0"/>
              </a:rPr>
              <a:t>sender</a:t>
            </a:r>
            <a:r>
              <a:rPr lang="en-US" sz="1800" b="0" i="0" dirty="0">
                <a:solidFill>
                  <a:schemeClr val="tx1"/>
                </a:solidFill>
                <a:effectLst/>
                <a:latin typeface="Nunito" pitchFamily="2" charset="0"/>
              </a:rPr>
              <a:t> and person who receives mail is called</a:t>
            </a:r>
            <a:r>
              <a:rPr lang="en-US" sz="1800" b="1" i="0" dirty="0">
                <a:solidFill>
                  <a:schemeClr val="tx1"/>
                </a:solidFill>
                <a:effectLst/>
                <a:latin typeface="Nunito" pitchFamily="2" charset="0"/>
              </a:rPr>
              <a:t> recipient</a:t>
            </a:r>
            <a:r>
              <a:rPr lang="en-US" sz="1800" b="0" i="0" dirty="0">
                <a:solidFill>
                  <a:schemeClr val="tx1"/>
                </a:solidFill>
                <a:effectLst/>
                <a:latin typeface="Nunito" pitchFamily="2" charset="0"/>
              </a:rPr>
              <a:t>. It is just like postal mail service. </a:t>
            </a:r>
            <a:r>
              <a:rPr lang="en-US" sz="1800" b="1" i="0" dirty="0">
                <a:solidFill>
                  <a:schemeClr val="tx1"/>
                </a:solidFill>
                <a:effectLst/>
                <a:latin typeface="Nunito" pitchFamily="2" charset="0"/>
              </a:rPr>
              <a:t>Components of E-Mail System :</a:t>
            </a:r>
            <a:r>
              <a:rPr lang="en-US" sz="1800" b="0" i="0" dirty="0">
                <a:solidFill>
                  <a:schemeClr val="tx1"/>
                </a:solidFill>
                <a:effectLst/>
                <a:latin typeface="Nunito" pitchFamily="2" charset="0"/>
              </a:rPr>
              <a:t> The basic components of an email system are : User Agent (UA), Message Transfer Agent (MTA), Mail Box, and Spool file. These are explained as following below.</a:t>
            </a:r>
            <a:endParaRPr lang="en-US" sz="1800" dirty="0">
              <a:solidFill>
                <a:schemeClr val="tx1"/>
              </a:solidFill>
              <a:latin typeface="Segoe UI" panose="020B0502040204020203" pitchFamily="34" charset="0"/>
              <a:cs typeface="Segoe UI" panose="020B0502040204020203" pitchFamily="34" charset="0"/>
            </a:endParaRPr>
          </a:p>
        </p:txBody>
      </p:sp>
      <p:sp>
        <p:nvSpPr>
          <p:cNvPr id="21" name="Content Placeholder 17"/>
          <p:cNvSpPr txBox="1">
            <a:spLocks/>
          </p:cNvSpPr>
          <p:nvPr/>
        </p:nvSpPr>
        <p:spPr>
          <a:xfrm>
            <a:off x="1056513" y="1958189"/>
            <a:ext cx="4585731" cy="5965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solidFill>
                <a:prstClr val="black">
                  <a:lumMod val="75000"/>
                  <a:lumOff val="25000"/>
                </a:prstClr>
              </a:solidFill>
              <a:cs typeface="Segoe UI"/>
            </a:endParaRPr>
          </a:p>
        </p:txBody>
      </p:sp>
      <p:sp>
        <p:nvSpPr>
          <p:cNvPr id="36" name="Content Placeholder 17"/>
          <p:cNvSpPr txBox="1">
            <a:spLocks/>
          </p:cNvSpPr>
          <p:nvPr/>
        </p:nvSpPr>
        <p:spPr>
          <a:xfrm>
            <a:off x="1056513" y="2844450"/>
            <a:ext cx="4504252" cy="10658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2" name="Content Placeholder 17"/>
          <p:cNvSpPr txBox="1">
            <a:spLocks/>
          </p:cNvSpPr>
          <p:nvPr/>
        </p:nvSpPr>
        <p:spPr>
          <a:xfrm>
            <a:off x="664967" y="3561340"/>
            <a:ext cx="10470520" cy="761144"/>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l" fontAlgn="base">
              <a:lnSpc>
                <a:spcPct val="100000"/>
              </a:lnSpc>
              <a:buNone/>
            </a:pPr>
            <a:r>
              <a:rPr lang="en-US" sz="1800" b="1" i="0" dirty="0">
                <a:solidFill>
                  <a:schemeClr val="tx1"/>
                </a:solidFill>
                <a:effectLst/>
                <a:latin typeface="Nunito" pitchFamily="2" charset="0"/>
              </a:rPr>
              <a:t>User Agent (UA) :</a:t>
            </a:r>
            <a:r>
              <a:rPr lang="en-US" sz="1800" b="0" i="0" dirty="0">
                <a:solidFill>
                  <a:schemeClr val="tx1"/>
                </a:solidFill>
                <a:effectLst/>
                <a:latin typeface="Nunito" pitchFamily="2" charset="0"/>
              </a:rPr>
              <a:t> The UA is normally a program which is used to send and receive mail. Sometimes, it is called as mail reader. It accepts variety of commands for composing, receiving and replying to messages as well as for manipulation of the mailboxes.</a:t>
            </a:r>
          </a:p>
          <a:p>
            <a:pPr marL="0" indent="0" algn="l" fontAlgn="base">
              <a:buNone/>
            </a:pPr>
            <a:r>
              <a:rPr lang="en-US" sz="1800" b="1" i="0" dirty="0">
                <a:solidFill>
                  <a:schemeClr val="tx1"/>
                </a:solidFill>
                <a:effectLst/>
                <a:latin typeface="Nunito" pitchFamily="2" charset="0"/>
              </a:rPr>
              <a:t>Message Transfer Agent (MTA) :</a:t>
            </a:r>
            <a:r>
              <a:rPr lang="en-US" sz="1800" b="0" i="0" dirty="0">
                <a:solidFill>
                  <a:schemeClr val="tx1"/>
                </a:solidFill>
                <a:effectLst/>
                <a:latin typeface="Nunito" pitchFamily="2" charset="0"/>
              </a:rPr>
              <a:t> MTA is actually responsible for transfer of mail from one system to another. To send a mail, a system must have client MTA and system MTA. It transfer mail to mailboxes of recipients if they are connected in the same machine. It delivers mail to peer MTA if destination mailbox is in another machine. The delivery from one MTA to another MTA is done by </a:t>
            </a:r>
            <a:r>
              <a:rPr lang="en-US" sz="1800" b="0" i="0" u="sng" dirty="0">
                <a:solidFill>
                  <a:schemeClr val="tx1"/>
                </a:solidFill>
                <a:effectLst/>
                <a:latin typeface="Nunito" pitchFamily="2" charset="0"/>
                <a:hlinkClick r:id="rId3">
                  <a:extLst>
                    <a:ext uri="{A12FA001-AC4F-418D-AE19-62706E023703}">
                      <ahyp:hlinkClr xmlns:ahyp="http://schemas.microsoft.com/office/drawing/2018/hyperlinkcolor" val="tx"/>
                    </a:ext>
                  </a:extLst>
                </a:hlinkClick>
              </a:rPr>
              <a:t>Simple Mail Transfer Protocol</a:t>
            </a:r>
            <a:r>
              <a:rPr lang="en-US" sz="1800" b="0" i="0" dirty="0">
                <a:solidFill>
                  <a:schemeClr val="tx1"/>
                </a:solidFill>
                <a:effectLst/>
                <a:latin typeface="Nunito" pitchFamily="2" charset="0"/>
              </a:rPr>
              <a:t>.</a:t>
            </a:r>
          </a:p>
        </p:txBody>
      </p:sp>
      <p:sp>
        <p:nvSpPr>
          <p:cNvPr id="40" name="Content Placeholder 17"/>
          <p:cNvSpPr txBox="1">
            <a:spLocks/>
          </p:cNvSpPr>
          <p:nvPr/>
        </p:nvSpPr>
        <p:spPr>
          <a:xfrm>
            <a:off x="1056513" y="5177572"/>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latin typeface="Segoe UI Light" panose="020B0502040204020203" pitchFamily="34" charset="0"/>
              <a:cs typeface="Segoe UI Light" panose="020B0502040204020203" pitchFamily="34" charset="0"/>
            </a:endParaRPr>
          </a:p>
        </p:txBody>
      </p:sp>
      <p:sp>
        <p:nvSpPr>
          <p:cNvPr id="5" name="Content Placeholder 4"/>
          <p:cNvSpPr>
            <a:spLocks noGrp="1"/>
          </p:cNvSpPr>
          <p:nvPr>
            <p:ph sz="half" idx="4294967295"/>
          </p:nvPr>
        </p:nvSpPr>
        <p:spPr>
          <a:xfrm>
            <a:off x="335132" y="1447174"/>
            <a:ext cx="11247267" cy="4790886"/>
          </a:xfrm>
        </p:spPr>
        <p:txBody>
          <a:bodyPr vert="horz" lIns="91440" tIns="45720" rIns="91440" bIns="45720" rtlCol="0">
            <a:noAutofit/>
          </a:bodyPr>
          <a:lstStyle/>
          <a:p>
            <a:pPr algn="l" fontAlgn="base"/>
            <a:r>
              <a:rPr lang="en-US" sz="1800" b="1" i="0" dirty="0">
                <a:effectLst/>
                <a:latin typeface="Nunito" pitchFamily="2" charset="0"/>
              </a:rPr>
              <a:t>Mailbox :</a:t>
            </a:r>
            <a:r>
              <a:rPr lang="en-US" sz="1800" b="0" i="0" dirty="0">
                <a:effectLst/>
                <a:latin typeface="Nunito" pitchFamily="2" charset="0"/>
              </a:rPr>
              <a:t> It is a file on local hard drive to collect mails. Delivered mails are present in this file. The user can read it delete it according to his/her requirement. To use e-mail system each user must have a mailbox . Access to mailbox is only to owner of mailbox.</a:t>
            </a:r>
          </a:p>
          <a:p>
            <a:pPr algn="l" fontAlgn="base"/>
            <a:r>
              <a:rPr lang="en-US" sz="1800" b="1" i="0" dirty="0">
                <a:effectLst/>
                <a:latin typeface="Nunito" pitchFamily="2" charset="0"/>
              </a:rPr>
              <a:t>Spool file :</a:t>
            </a:r>
            <a:r>
              <a:rPr lang="en-US" sz="1800" b="0" i="0" dirty="0">
                <a:effectLst/>
                <a:latin typeface="Nunito" pitchFamily="2" charset="0"/>
              </a:rPr>
              <a:t> This file contains mails that are to be sent. User agent appends outgoing mails in this file using SMTP. MTA extracts pending mail from spool file for their delivery. E-mail allows one name, an </a:t>
            </a:r>
            <a:r>
              <a:rPr lang="en-US" sz="1800" b="1" i="0" dirty="0">
                <a:effectLst/>
                <a:latin typeface="Nunito" pitchFamily="2" charset="0"/>
              </a:rPr>
              <a:t>alias</a:t>
            </a:r>
            <a:r>
              <a:rPr lang="en-US" sz="1800" b="0" i="0" dirty="0">
                <a:effectLst/>
                <a:latin typeface="Nunito" pitchFamily="2" charset="0"/>
              </a:rPr>
              <a:t>, to represent several different e-mail addresses. It is known as </a:t>
            </a:r>
            <a:r>
              <a:rPr lang="en-US" sz="1800" b="1" i="0" dirty="0">
                <a:effectLst/>
                <a:latin typeface="Nunito" pitchFamily="2" charset="0"/>
              </a:rPr>
              <a:t>mailing list</a:t>
            </a:r>
            <a:r>
              <a:rPr lang="en-US" sz="1800" b="0" i="0" dirty="0">
                <a:effectLst/>
                <a:latin typeface="Nunito" pitchFamily="2" charset="0"/>
              </a:rPr>
              <a:t>, Whenever user have to sent a message, system checks recipient’s name against alias database. If mailing list is present for defined alias, separate messages, one for each entry in the list, must be prepared and handed to MTA. If for defined alias, there is no such mailing list is present, name itself becomes naming address and a single message is delivered to mail transfer entity.</a:t>
            </a:r>
          </a:p>
          <a:p>
            <a:pPr marL="0" indent="0">
              <a:lnSpc>
                <a:spcPts val="1800"/>
              </a:lnSpc>
              <a:spcBef>
                <a:spcPts val="1000"/>
              </a:spcBef>
              <a:spcAft>
                <a:spcPts val="600"/>
              </a:spcAft>
              <a:buNone/>
            </a:pPr>
            <a:endParaRPr lang="en-US"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94C7E4-1DDC-AE32-F522-7B7B1A8CD07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59683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Segoe UI Light" panose="020B0502040204020203" pitchFamily="34" charset="0"/>
                <a:cs typeface="Segoe UI Light" panose="020B0502040204020203" pitchFamily="34" charset="0"/>
              </a:rPr>
              <a:t>Working together in real time</a:t>
            </a:r>
          </a:p>
        </p:txBody>
      </p:sp>
      <p:sp>
        <p:nvSpPr>
          <p:cNvPr id="5" name="Content Placeholder 4"/>
          <p:cNvSpPr>
            <a:spLocks noGrp="1"/>
          </p:cNvSpPr>
          <p:nvPr>
            <p:ph sz="half" idx="4294967295"/>
          </p:nvPr>
        </p:nvSpPr>
        <p:spPr>
          <a:xfrm>
            <a:off x="541611" y="1431010"/>
            <a:ext cx="4413626" cy="3978275"/>
          </a:xfrm>
        </p:spPr>
        <p:txBody>
          <a:bodyPr vert="horz" lIns="91440" tIns="45720" rIns="91440" bIns="45720" rtlCol="0">
            <a:normAutofit/>
          </a:bodyPr>
          <a:lstStyle/>
          <a:p>
            <a:pPr marL="0" indent="0">
              <a:lnSpc>
                <a:spcPts val="1800"/>
              </a:lnSpc>
              <a:spcBef>
                <a:spcPts val="1000"/>
              </a:spcBef>
              <a:spcAft>
                <a:spcPts val="20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When you share your presentation with others, you’ll see them working with you at the same time. </a:t>
            </a:r>
            <a:br>
              <a:rPr lang="en-US" sz="1200" dirty="0">
                <a:solidFill>
                  <a:prstClr val="black">
                    <a:lumMod val="75000"/>
                    <a:lumOff val="25000"/>
                  </a:prstClr>
                </a:solidFill>
                <a:latin typeface="Segoe UI" panose="020B0502040204020203" pitchFamily="34" charset="0"/>
                <a:cs typeface="Segoe UI" panose="020B0502040204020203" pitchFamily="34" charset="0"/>
              </a:rPr>
            </a:br>
            <a:br>
              <a:rPr lang="en-US" sz="1200" dirty="0">
                <a:solidFill>
                  <a:prstClr val="black">
                    <a:lumMod val="75000"/>
                    <a:lumOff val="25000"/>
                  </a:prstClr>
                </a:solidFill>
                <a:latin typeface="Segoe UI" panose="020B0502040204020203" pitchFamily="34" charset="0"/>
                <a:cs typeface="Segoe UI" panose="020B0502040204020203" pitchFamily="34" charset="0"/>
              </a:rPr>
            </a:br>
            <a:r>
              <a:rPr lang="en-US" sz="1200" dirty="0">
                <a:solidFill>
                  <a:prstClr val="black">
                    <a:lumMod val="75000"/>
                    <a:lumOff val="25000"/>
                  </a:prstClr>
                </a:solidFill>
                <a:latin typeface="Segoe UI" panose="020B0502040204020203" pitchFamily="34" charset="0"/>
                <a:cs typeface="Segoe UI" panose="020B0502040204020203" pitchFamily="34" charset="0"/>
              </a:rPr>
              <a:t>How it works:</a:t>
            </a:r>
          </a:p>
        </p:txBody>
      </p:sp>
      <p:pic>
        <p:nvPicPr>
          <p:cNvPr id="11" name="Picture 10" descr="Share icon showing number of people  working on the presentation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84" y="2425111"/>
            <a:ext cx="3262550" cy="1475660"/>
          </a:xfrm>
          <a:prstGeom prst="rect">
            <a:avLst/>
          </a:prstGeom>
        </p:spPr>
      </p:pic>
      <p:grpSp>
        <p:nvGrpSpPr>
          <p:cNvPr id="33" name="Group 32" descr="Small circle with number 1 inside indicating step 1"/>
          <p:cNvGrpSpPr/>
          <p:nvPr/>
        </p:nvGrpSpPr>
        <p:grpSpPr bwMode="blackWhite">
          <a:xfrm>
            <a:off x="558723" y="4531632"/>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9" y="4571824"/>
            <a:ext cx="2696774" cy="99258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D24726"/>
                </a:solidFill>
                <a:latin typeface="Segoe UI" panose="020B0502040204020203" pitchFamily="34" charset="0"/>
                <a:cs typeface="Segoe UI" panose="020B0502040204020203" pitchFamily="34" charset="0"/>
              </a:rPr>
              <a:t>Share</a:t>
            </a:r>
            <a:r>
              <a:rPr lang="en-US" dirty="0">
                <a:solidFill>
                  <a:prstClr val="black">
                    <a:lumMod val="75000"/>
                    <a:lumOff val="25000"/>
                  </a:prstClr>
                </a:solidFill>
                <a:latin typeface="Segoe UI" panose="020B0502040204020203" pitchFamily="34" charset="0"/>
                <a:cs typeface="Segoe UI" panose="020B0502040204020203" pitchFamily="34" charset="0"/>
              </a:rPr>
              <a:t> from above the ribbon, or by using </a:t>
            </a:r>
            <a:r>
              <a:rPr lang="en-US">
                <a:solidFill>
                  <a:prstClr val="black">
                    <a:lumMod val="75000"/>
                    <a:lumOff val="25000"/>
                  </a:prstClr>
                </a:solidFill>
                <a:latin typeface="Segoe UI" panose="020B0502040204020203" pitchFamily="34" charset="0"/>
                <a:cs typeface="Segoe UI" panose="020B0502040204020203" pitchFamily="34" charset="0"/>
              </a:rPr>
              <a:t>short-key </a:t>
            </a:r>
            <a:r>
              <a:rPr lang="en-US">
                <a:solidFill>
                  <a:srgbClr val="D24726"/>
                </a:solidFill>
                <a:latin typeface="Segoe UI" panose="020B0502040204020203" pitchFamily="34" charset="0"/>
                <a:cs typeface="Segoe UI" panose="020B0502040204020203" pitchFamily="34" charset="0"/>
              </a:rPr>
              <a:t>Alt-ZS</a:t>
            </a:r>
            <a:r>
              <a:rPr lang="en-US">
                <a:solidFill>
                  <a:prstClr val="black">
                    <a:lumMod val="75000"/>
                    <a:lumOff val="25000"/>
                  </a:prst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latin typeface="Segoe UI" panose="020B0502040204020203" pitchFamily="34" charset="0"/>
                <a:cs typeface="Segoe UI" panose="020B0502040204020203" pitchFamily="34" charset="0"/>
              </a:rPr>
              <a:t>to invite people to work with you (You can save to the cloud at this point.)</a:t>
            </a:r>
          </a:p>
        </p:txBody>
      </p:sp>
      <p:pic>
        <p:nvPicPr>
          <p:cNvPr id="9" name="Picture 8" descr="Marker showing who is working on a slid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1352" y="2434307"/>
            <a:ext cx="3841692" cy="2512928"/>
          </a:xfrm>
          <a:prstGeom prst="rect">
            <a:avLst/>
          </a:prstGeom>
        </p:spPr>
      </p:pic>
      <p:grpSp>
        <p:nvGrpSpPr>
          <p:cNvPr id="36" name="Group 35" descr="Small circle with number 2 inside indicating step 2"/>
          <p:cNvGrpSpPr/>
          <p:nvPr/>
        </p:nvGrpSpPr>
        <p:grpSpPr bwMode="blackWhite">
          <a:xfrm>
            <a:off x="4249102" y="4531632"/>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4571824"/>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When other people are in the presentation, a marker shows who is on which slide…</a:t>
            </a:r>
          </a:p>
        </p:txBody>
      </p:sp>
      <p:pic>
        <p:nvPicPr>
          <p:cNvPr id="12" name="Picture 11" descr="Maker showing the part of the slide being edi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9419" y="2350394"/>
            <a:ext cx="3563782" cy="2305344"/>
          </a:xfrm>
          <a:prstGeom prst="rect">
            <a:avLst/>
          </a:prstGeom>
        </p:spPr>
      </p:pic>
      <p:grpSp>
        <p:nvGrpSpPr>
          <p:cNvPr id="39" name="Group 38" descr="Small circle with number 3 inside  indicating step 3"/>
          <p:cNvGrpSpPr/>
          <p:nvPr/>
        </p:nvGrpSpPr>
        <p:grpSpPr bwMode="blackWhite">
          <a:xfrm>
            <a:off x="7930921" y="4531632"/>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4571824"/>
            <a:ext cx="2658635" cy="69776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…and the part of the slide they're editing.</a:t>
            </a:r>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You’re an expert with Tell Me</a:t>
            </a:r>
          </a:p>
        </p:txBody>
      </p:sp>
      <p:sp>
        <p:nvSpPr>
          <p:cNvPr id="38" name="Content Placeholder 17"/>
          <p:cNvSpPr txBox="1">
            <a:spLocks/>
          </p:cNvSpPr>
          <p:nvPr/>
        </p:nvSpPr>
        <p:spPr>
          <a:xfrm>
            <a:off x="541609" y="1296100"/>
            <a:ext cx="5110161"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The Tell Me box finds the right command when you need it,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so you can save time and focus on your work.</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grpSp>
        <p:nvGrpSpPr>
          <p:cNvPr id="4" name="Group 3" descr="Small circle with number 1 inside  indicating step 1"/>
          <p:cNvGrpSpPr/>
          <p:nvPr/>
        </p:nvGrpSpPr>
        <p:grpSpPr bwMode="blackWhite">
          <a:xfrm>
            <a:off x="558723" y="2638502"/>
            <a:ext cx="558179" cy="409838"/>
            <a:chOff x="6953426" y="711274"/>
            <a:chExt cx="558179" cy="409838"/>
          </a:xfrm>
        </p:grpSpPr>
        <p:sp>
          <p:nvSpPr>
            <p:cNvPr id="2" name="Oval 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descr="Number 1"/>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29" name="Content Placeholder 17"/>
          <p:cNvSpPr txBox="1">
            <a:spLocks/>
          </p:cNvSpPr>
          <p:nvPr/>
        </p:nvSpPr>
        <p:spPr>
          <a:xfrm>
            <a:off x="1066039" y="2678694"/>
            <a:ext cx="3121671" cy="46764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defTabSz="512763">
              <a:lnSpc>
                <a:spcPct val="100000"/>
              </a:lnSpc>
              <a:spcBef>
                <a:spcPts val="0"/>
              </a:spcBef>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a:t>
            </a:r>
            <a:r>
              <a:rPr lang="en-US" dirty="0">
                <a:solidFill>
                  <a:srgbClr val="404040"/>
                </a:solidFill>
                <a:latin typeface="Segoe UI" panose="020B0502040204020203" pitchFamily="34" charset="0"/>
                <a:cs typeface="Segoe UI" panose="020B0502040204020203" pitchFamily="34" charset="0"/>
              </a:rPr>
              <a:t>the Robot picture </a:t>
            </a:r>
            <a:r>
              <a:rPr lang="en-US" dirty="0">
                <a:solidFill>
                  <a:prstClr val="black">
                    <a:lumMod val="75000"/>
                    <a:lumOff val="25000"/>
                  </a:prstClr>
                </a:solidFill>
                <a:latin typeface="Segoe UI" panose="020B0502040204020203" pitchFamily="34" charset="0"/>
                <a:cs typeface="Segoe UI" panose="020B0502040204020203" pitchFamily="34" charset="0"/>
              </a:rPr>
              <a:t>on the right.</a:t>
            </a:r>
          </a:p>
        </p:txBody>
      </p:sp>
      <p:grpSp>
        <p:nvGrpSpPr>
          <p:cNvPr id="19" name="Group 18" descr="Small circle with number 2 inside  indicating step 2"/>
          <p:cNvGrpSpPr/>
          <p:nvPr/>
        </p:nvGrpSpPr>
        <p:grpSpPr bwMode="blackWhite">
          <a:xfrm>
            <a:off x="558723" y="3312993"/>
            <a:ext cx="558179" cy="409838"/>
            <a:chOff x="6953426" y="711274"/>
            <a:chExt cx="558179" cy="409838"/>
          </a:xfrm>
        </p:grpSpPr>
        <p:sp>
          <p:nvSpPr>
            <p:cNvPr id="20" name="Oval 1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descr="Number 2"/>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22" name="Content Placeholder 17"/>
          <p:cNvSpPr txBox="1">
            <a:spLocks/>
          </p:cNvSpPr>
          <p:nvPr/>
        </p:nvSpPr>
        <p:spPr>
          <a:xfrm>
            <a:off x="1066039" y="3353185"/>
            <a:ext cx="3504072"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lumMod val="75000"/>
                    <a:lumOff val="25000"/>
                  </a:prstClr>
                </a:solidFill>
                <a:latin typeface="Segoe UI" panose="020B0502040204020203" pitchFamily="34" charset="0"/>
                <a:cs typeface="Segoe UI" panose="020B0502040204020203" pitchFamily="34" charset="0"/>
              </a:rPr>
              <a:t>Type</a:t>
            </a:r>
            <a:r>
              <a:rPr lang="en-US" dirty="0">
                <a:solidFill>
                  <a:prstClr val="black">
                    <a:lumMod val="75000"/>
                    <a:lumOff val="25000"/>
                  </a:prstClr>
                </a:solidFill>
              </a:rPr>
              <a:t> </a:t>
            </a:r>
            <a:r>
              <a:rPr lang="en-US" i="1" dirty="0">
                <a:solidFill>
                  <a:srgbClr val="D24726"/>
                </a:solidFill>
                <a:latin typeface="Segoe UI" panose="020B0502040204020203" pitchFamily="34" charset="0"/>
                <a:cs typeface="Segoe UI" panose="020B0502040204020203" pitchFamily="34" charset="0"/>
              </a:rPr>
              <a:t>animation</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in the </a:t>
            </a:r>
            <a:r>
              <a:rPr lang="en-US" dirty="0">
                <a:solidFill>
                  <a:srgbClr val="D24726"/>
                </a:solidFill>
                <a:latin typeface="Segoe UI Semibold" panose="020B0702040204020203" pitchFamily="34" charset="0"/>
                <a:cs typeface="Segoe UI Semibold" panose="020B0702040204020203" pitchFamily="34" charset="0"/>
              </a:rPr>
              <a:t>Tell Me </a:t>
            </a:r>
            <a:r>
              <a:rPr lang="en-US" dirty="0">
                <a:solidFill>
                  <a:prstClr val="black">
                    <a:lumMod val="75000"/>
                    <a:lumOff val="25000"/>
                  </a:prstClr>
                </a:solidFill>
                <a:latin typeface="Segoe UI" panose="020B0502040204020203" pitchFamily="34" charset="0"/>
                <a:cs typeface="Segoe UI" panose="020B0502040204020203" pitchFamily="34" charset="0"/>
              </a:rPr>
              <a:t>box, and then choose </a:t>
            </a:r>
            <a:r>
              <a:rPr lang="en-US" dirty="0">
                <a:solidFill>
                  <a:srgbClr val="D24726"/>
                </a:solidFill>
                <a:latin typeface="Segoe UI Semibold" panose="020B0702040204020203" pitchFamily="34" charset="0"/>
                <a:cs typeface="Segoe UI Semibold" panose="020B0702040204020203" pitchFamily="34" charset="0"/>
              </a:rPr>
              <a:t>Add Animation</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31" name="Group 30" descr="Small circle with number 3 inside  indicating step 3"/>
          <p:cNvGrpSpPr/>
          <p:nvPr/>
        </p:nvGrpSpPr>
        <p:grpSpPr bwMode="blackWhite">
          <a:xfrm>
            <a:off x="557319" y="4263506"/>
            <a:ext cx="558179" cy="409838"/>
            <a:chOff x="6953426" y="711274"/>
            <a:chExt cx="558179" cy="409838"/>
          </a:xfrm>
        </p:grpSpPr>
        <p:sp>
          <p:nvSpPr>
            <p:cNvPr id="32" name="Oval 31"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descr="Number 3"/>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34" name="Content Placeholder 17"/>
          <p:cNvSpPr txBox="1">
            <a:spLocks/>
          </p:cNvSpPr>
          <p:nvPr/>
        </p:nvSpPr>
        <p:spPr>
          <a:xfrm>
            <a:off x="1064636" y="4303697"/>
            <a:ext cx="2134038" cy="14460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defTabSz="512763">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an animation effect, like </a:t>
            </a:r>
            <a:r>
              <a:rPr lang="en-US" dirty="0">
                <a:solidFill>
                  <a:srgbClr val="D24726"/>
                </a:solidFill>
                <a:latin typeface="Segoe UI Semibold" panose="020B0702040204020203" pitchFamily="34" charset="0"/>
                <a:cs typeface="Segoe UI Semibold" panose="020B0702040204020203" pitchFamily="34" charset="0"/>
              </a:rPr>
              <a:t>Zoom</a:t>
            </a:r>
            <a:r>
              <a:rPr lang="en-US" dirty="0">
                <a:solidFill>
                  <a:prstClr val="black">
                    <a:lumMod val="75000"/>
                    <a:lumOff val="25000"/>
                  </a:prstClr>
                </a:solidFill>
                <a:latin typeface="Segoe UI" panose="020B0502040204020203" pitchFamily="34" charset="0"/>
                <a:cs typeface="Segoe UI" panose="020B0502040204020203" pitchFamily="34" charset="0"/>
              </a:rPr>
              <a:t>, and watch </a:t>
            </a:r>
            <a:br>
              <a:rPr lang="en-US" dirty="0">
                <a:solidFill>
                  <a:prstClr val="black">
                    <a:lumMod val="75000"/>
                    <a:lumOff val="25000"/>
                  </a:prstClr>
                </a:solidFill>
                <a:latin typeface="Segoe UI" panose="020B0502040204020203" pitchFamily="34" charset="0"/>
                <a:cs typeface="Segoe UI" panose="020B0502040204020203" pitchFamily="34" charset="0"/>
              </a:rPr>
            </a:br>
            <a:r>
              <a:rPr lang="en-US" dirty="0">
                <a:solidFill>
                  <a:prstClr val="black">
                    <a:lumMod val="75000"/>
                    <a:lumOff val="25000"/>
                  </a:prstClr>
                </a:solidFill>
                <a:latin typeface="Segoe UI" panose="020B0502040204020203" pitchFamily="34" charset="0"/>
                <a:cs typeface="Segoe UI" panose="020B0502040204020203" pitchFamily="34" charset="0"/>
              </a:rPr>
              <a:t>what happens.</a:t>
            </a:r>
          </a:p>
        </p:txBody>
      </p:sp>
      <p:sp>
        <p:nvSpPr>
          <p:cNvPr id="25" name="Text Box 16" descr="Select me"/>
          <p:cNvSpPr txBox="1"/>
          <p:nvPr/>
        </p:nvSpPr>
        <p:spPr>
          <a:xfrm rot="21077122">
            <a:off x="6043297" y="1772253"/>
            <a:ext cx="1334770" cy="435610"/>
          </a:xfrm>
          <a:prstGeom prst="rect">
            <a:avLst/>
          </a:prstGeom>
          <a:noFill/>
          <a:ln>
            <a:noFill/>
          </a:ln>
          <a:effectLst/>
          <a:extLst>
            <a:ext uri="{C572A759-6A51-4108-AA02-DFA0A04FC94B}">
              <ma14:wrappingTextBoxFlag xmlns:ma14="http://schemas.microsoft.com/office/mac/drawingml/2011/main" xmlns=""/>
            </a:ext>
          </a:ex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200"/>
              </a:spcAft>
              <a:tabLst>
                <a:tab pos="4931410" algn="l"/>
              </a:tabLst>
            </a:pPr>
            <a:r>
              <a:rPr lang="en-US" sz="1200" b="1" kern="1000" spc="100" dirty="0">
                <a:ln>
                  <a:noFill/>
                </a:ln>
                <a:solidFill>
                  <a:srgbClr val="D24726"/>
                </a:solidFill>
                <a:effectLst/>
                <a:latin typeface="Segoe UI Semibold" panose="020B0702040204020203" pitchFamily="34" charset="0"/>
                <a:ea typeface="SimHei" panose="02010609060101010101" pitchFamily="49" charset="-122"/>
                <a:cs typeface="Times New Roman" panose="02020603050405020304" pitchFamily="18" charset="0"/>
              </a:rPr>
              <a:t>SELECT ME</a:t>
            </a:r>
            <a:endParaRPr lang="en-US" sz="1200" b="1" kern="1400" dirty="0">
              <a:solidFill>
                <a:srgbClr val="D24726"/>
              </a:solidFill>
              <a:effectLst/>
              <a:latin typeface="Segoe UI Light" panose="020B0502040204020203" pitchFamily="34" charset="0"/>
              <a:ea typeface="SimHei" panose="02010609060101010101" pitchFamily="49" charset="-122"/>
              <a:cs typeface="Times New Roman" panose="02020603050405020304" pitchFamily="18" charset="0"/>
            </a:endParaRPr>
          </a:p>
        </p:txBody>
      </p:sp>
      <p:pic>
        <p:nvPicPr>
          <p:cNvPr id="5" name="Picture 4" descr="Tell Me box"/>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7766" y="3410945"/>
            <a:ext cx="2106152" cy="220833"/>
          </a:xfrm>
          <a:prstGeom prst="rect">
            <a:avLst/>
          </a:prstGeom>
        </p:spPr>
      </p:pic>
      <p:pic>
        <p:nvPicPr>
          <p:cNvPr id="7" name="Picture 6" descr="Animation tab showing zoom op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3240" y="4069080"/>
            <a:ext cx="3803904" cy="2438400"/>
          </a:xfrm>
          <a:prstGeom prst="rect">
            <a:avLst/>
          </a:prstGeom>
        </p:spPr>
      </p:pic>
      <p:pic>
        <p:nvPicPr>
          <p:cNvPr id="24" name="Picture 23">
            <a:extLst>
              <a:ext uri="{C183D7F6-B498-43B3-948B-1728B52AA6E4}">
                <adec:decorative xmlns:adec="http://schemas.microsoft.com/office/drawing/2017/decorative" val="1"/>
              </a:ext>
            </a:extLst>
          </p:cNvPr>
          <p:cNvPicPr/>
          <p:nvPr/>
        </p:nvPicPr>
        <p:blipFill>
          <a:blip r:embed="rId4" cstate="print">
            <a:extLst>
              <a:ext uri="{28A0092B-C50C-407E-A947-70E740481C1C}">
                <a14:useLocalDpi xmlns:a14="http://schemas.microsoft.com/office/drawing/2010/main" val="0"/>
              </a:ext>
            </a:extLst>
          </a:blip>
          <a:stretch>
            <a:fillRect/>
          </a:stretch>
        </p:blipFill>
        <p:spPr>
          <a:xfrm rot="3861835" flipH="1">
            <a:off x="6740574" y="1787378"/>
            <a:ext cx="851862" cy="939987"/>
          </a:xfrm>
          <a:prstGeom prst="rect">
            <a:avLst/>
          </a:prstGeom>
        </p:spPr>
      </p:pic>
      <p:pic>
        <p:nvPicPr>
          <p:cNvPr id="23" name="Picture 22" descr="Robot"/>
          <p:cNvPicPr>
            <a:picLocks noChangeAspect="1"/>
          </p:cNvPicPr>
          <p:nvPr/>
        </p:nvPicPr>
        <p:blipFill>
          <a:blip r:embed="rId5"/>
          <a:stretch>
            <a:fillRect/>
          </a:stretch>
        </p:blipFill>
        <p:spPr>
          <a:xfrm>
            <a:off x="7912741" y="1646170"/>
            <a:ext cx="2775459" cy="4531804"/>
          </a:xfrm>
          <a:prstGeom prst="rect">
            <a:avLst/>
          </a:prstGeom>
        </p:spPr>
      </p:pic>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Explore without leaving your slides</a:t>
            </a:r>
          </a:p>
        </p:txBody>
      </p:sp>
      <p:sp>
        <p:nvSpPr>
          <p:cNvPr id="16" name="Content Placeholder 17"/>
          <p:cNvSpPr txBox="1">
            <a:spLocks/>
          </p:cNvSpPr>
          <p:nvPr/>
        </p:nvSpPr>
        <p:spPr>
          <a:xfrm>
            <a:off x="541609" y="1296100"/>
            <a:ext cx="6093106"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latin typeface="Segoe UI" panose="020B0502040204020203" pitchFamily="34" charset="0"/>
                <a:cs typeface="Segoe UI" panose="020B0502040204020203" pitchFamily="34" charset="0"/>
              </a:rPr>
              <a:t>Smart Lookup brings research directly in to PowerPoint.</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Try it:</a:t>
            </a:r>
          </a:p>
        </p:txBody>
      </p:sp>
      <p:pic>
        <p:nvPicPr>
          <p:cNvPr id="18" name="Picture 17" descr="Three pictures showing the Smart Lookup fea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4408" y="2144574"/>
            <a:ext cx="11129521" cy="3198055"/>
          </a:xfrm>
          <a:prstGeom prst="rect">
            <a:avLst/>
          </a:prstGeom>
        </p:spPr>
      </p:pic>
      <p:grpSp>
        <p:nvGrpSpPr>
          <p:cNvPr id="33" name="Group 32" descr="Small circle with number 1 inside  indicating step 1"/>
          <p:cNvGrpSpPr/>
          <p:nvPr/>
        </p:nvGrpSpPr>
        <p:grpSpPr bwMode="blackWhite">
          <a:xfrm>
            <a:off x="558723" y="5233381"/>
            <a:ext cx="558179" cy="409838"/>
            <a:chOff x="6953426" y="711274"/>
            <a:chExt cx="558179" cy="409838"/>
          </a:xfrm>
        </p:grpSpPr>
        <p:sp>
          <p:nvSpPr>
            <p:cNvPr id="34" name="Oval 33"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descr="Number 1"/>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42" name="Content Placeholder 17"/>
          <p:cNvSpPr txBox="1">
            <a:spLocks/>
          </p:cNvSpPr>
          <p:nvPr/>
        </p:nvSpPr>
        <p:spPr>
          <a:xfrm>
            <a:off x="1066038" y="5273573"/>
            <a:ext cx="2919669" cy="129839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Right-click in the word </a:t>
            </a:r>
            <a:r>
              <a:rPr lang="en-US" i="1" dirty="0">
                <a:solidFill>
                  <a:srgbClr val="D24726"/>
                </a:solidFill>
                <a:latin typeface="Segoe UI" panose="020B0502040204020203" pitchFamily="34" charset="0"/>
                <a:cs typeface="Segoe UI" panose="020B0502040204020203" pitchFamily="34" charset="0"/>
              </a:rPr>
              <a:t>office</a:t>
            </a:r>
            <a:r>
              <a:rPr lang="en-US" dirty="0">
                <a:solidFill>
                  <a:prstClr val="black">
                    <a:lumMod val="75000"/>
                    <a:lumOff val="25000"/>
                  </a:prstClr>
                </a:solidFill>
                <a:latin typeface="Segoe UI" panose="020B0502040204020203" pitchFamily="34" charset="0"/>
                <a:cs typeface="Segoe UI" panose="020B0502040204020203" pitchFamily="34" charset="0"/>
              </a:rPr>
              <a:t> in the following phrase: </a:t>
            </a:r>
            <a:r>
              <a:rPr lang="en-US" sz="1800" dirty="0">
                <a:solidFill>
                  <a:prstClr val="black">
                    <a:lumMod val="75000"/>
                    <a:lumOff val="25000"/>
                  </a:prstClr>
                </a:solidFill>
                <a:latin typeface="Segoe UI" panose="020B0502040204020203" pitchFamily="34" charset="0"/>
                <a:cs typeface="Segoe UI" panose="020B0502040204020203" pitchFamily="34" charset="0"/>
              </a:rPr>
              <a:t>office furniture</a:t>
            </a:r>
          </a:p>
        </p:txBody>
      </p:sp>
      <p:grpSp>
        <p:nvGrpSpPr>
          <p:cNvPr id="36" name="Group 35" descr="Small circle with number 2 inside  indicating step 2"/>
          <p:cNvGrpSpPr/>
          <p:nvPr/>
        </p:nvGrpSpPr>
        <p:grpSpPr bwMode="blackWhite">
          <a:xfrm>
            <a:off x="4249102" y="5233381"/>
            <a:ext cx="558179" cy="409838"/>
            <a:chOff x="6953426" y="711274"/>
            <a:chExt cx="558179" cy="409838"/>
          </a:xfrm>
        </p:grpSpPr>
        <p:sp>
          <p:nvSpPr>
            <p:cNvPr id="37" name="Oval 36"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descr="Number 2"/>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43" name="Content Placeholder 17"/>
          <p:cNvSpPr txBox="1">
            <a:spLocks/>
          </p:cNvSpPr>
          <p:nvPr/>
        </p:nvSpPr>
        <p:spPr>
          <a:xfrm>
            <a:off x="4747855" y="5273573"/>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Choose </a:t>
            </a:r>
            <a:r>
              <a:rPr lang="en-US" dirty="0">
                <a:solidFill>
                  <a:srgbClr val="D24726"/>
                </a:solidFill>
                <a:latin typeface="Segoe UI Semibold" panose="020B0702040204020203" pitchFamily="34" charset="0"/>
                <a:cs typeface="Segoe UI Semibold" panose="020B0702040204020203" pitchFamily="34" charset="0"/>
              </a:rPr>
              <a:t>Smart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Lookup</a:t>
            </a:r>
            <a:r>
              <a:rPr lang="en-US" dirty="0">
                <a:latin typeface="Segoe UI" panose="020B0502040204020203" pitchFamily="34" charset="0"/>
                <a:cs typeface="Segoe UI" panose="020B0502040204020203" pitchFamily="34" charset="0"/>
              </a:rPr>
              <a:t>, and notice that results are contextual for that phrase, not </a:t>
            </a:r>
            <a:r>
              <a:rPr lang="en-US" sz="1800" dirty="0">
                <a:latin typeface="Segoe UI" panose="020B0502040204020203" pitchFamily="34" charset="0"/>
                <a:cs typeface="Segoe UI" panose="020B0502040204020203" pitchFamily="34" charset="0"/>
              </a:rPr>
              <a:t>Microsoft Office apps</a:t>
            </a:r>
            <a:r>
              <a:rPr lang="en-US" dirty="0">
                <a:latin typeface="Segoe UI" panose="020B0502040204020203" pitchFamily="34" charset="0"/>
                <a:cs typeface="Segoe UI" panose="020B0502040204020203" pitchFamily="34" charset="0"/>
              </a:rPr>
              <a:t>.</a:t>
            </a:r>
            <a:endParaRPr lang="en-US" dirty="0">
              <a:solidFill>
                <a:srgbClr val="D24726"/>
              </a:solidFill>
              <a:latin typeface="Segoe UI" panose="020B0502040204020203" pitchFamily="34" charset="0"/>
              <a:cs typeface="Segoe UI" panose="020B0502040204020203" pitchFamily="34" charset="0"/>
            </a:endParaRPr>
          </a:p>
        </p:txBody>
      </p:sp>
      <p:grpSp>
        <p:nvGrpSpPr>
          <p:cNvPr id="39" name="Group 38" descr="Small circle with number 3 inside  indicating step 3"/>
          <p:cNvGrpSpPr/>
          <p:nvPr/>
        </p:nvGrpSpPr>
        <p:grpSpPr bwMode="blackWhite">
          <a:xfrm>
            <a:off x="7930921" y="5233381"/>
            <a:ext cx="558179" cy="409838"/>
            <a:chOff x="6953426" y="711274"/>
            <a:chExt cx="558179" cy="409838"/>
          </a:xfrm>
        </p:grpSpPr>
        <p:sp>
          <p:nvSpPr>
            <p:cNvPr id="40" name="Oval 39" descr="Small ci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descr="Number 3"/>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44" name="Content Placeholder 17"/>
          <p:cNvSpPr txBox="1">
            <a:spLocks/>
          </p:cNvSpPr>
          <p:nvPr/>
        </p:nvSpPr>
        <p:spPr>
          <a:xfrm>
            <a:off x="8429668" y="5273573"/>
            <a:ext cx="3107336" cy="134188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pPr>
            <a:r>
              <a:rPr lang="en-US" dirty="0">
                <a:latin typeface="Segoe UI" panose="020B0502040204020203" pitchFamily="34" charset="0"/>
                <a:cs typeface="Segoe UI" panose="020B0502040204020203" pitchFamily="34" charset="0"/>
              </a:rPr>
              <a:t>Just for fun, try Smart Lookup again by right-clicking in the word </a:t>
            </a:r>
            <a:r>
              <a:rPr lang="en-US" i="1" dirty="0">
                <a:solidFill>
                  <a:srgbClr val="D24726"/>
                </a:solidFill>
                <a:latin typeface="Segoe UI" panose="020B0502040204020203" pitchFamily="34" charset="0"/>
                <a:cs typeface="Segoe UI" panose="020B0502040204020203" pitchFamily="34" charset="0"/>
              </a:rPr>
              <a:t>Office</a:t>
            </a:r>
            <a:r>
              <a:rPr lang="en-US" dirty="0"/>
              <a:t> </a:t>
            </a:r>
            <a:r>
              <a:rPr lang="en-US" dirty="0">
                <a:latin typeface="Segoe UI" panose="020B0502040204020203" pitchFamily="34" charset="0"/>
                <a:cs typeface="Segoe UI" panose="020B0502040204020203" pitchFamily="34" charset="0"/>
              </a:rPr>
              <a:t>in Step 2.</a:t>
            </a:r>
          </a:p>
          <a:p>
            <a:pPr marL="0" indent="0">
              <a:spcAft>
                <a:spcPts val="2000"/>
              </a:spcAft>
              <a:buNone/>
            </a:pPr>
            <a:endParaRPr lang="en-US" dirty="0">
              <a:solidFill>
                <a:prstClr val="black">
                  <a:lumMod val="75000"/>
                  <a:lumOff val="25000"/>
                </a:prstClr>
              </a:solidFill>
            </a:endParaRPr>
          </a:p>
        </p:txBody>
      </p:sp>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en-US" dirty="0">
                <a:latin typeface="Segoe UI Light" panose="020B0502040204020203" pitchFamily="34" charset="0"/>
                <a:cs typeface="Segoe UI Light" panose="020B0502040204020203" pitchFamily="34" charset="0"/>
              </a:rPr>
              <a:t>More questions about PowerPoint?</a:t>
            </a:r>
          </a:p>
        </p:txBody>
      </p:sp>
      <p:sp>
        <p:nvSpPr>
          <p:cNvPr id="5" name="Content Placeholder 4"/>
          <p:cNvSpPr>
            <a:spLocks noGrp="1"/>
          </p:cNvSpPr>
          <p:nvPr>
            <p:ph sz="half" idx="4294967295"/>
          </p:nvPr>
        </p:nvSpPr>
        <p:spPr>
          <a:xfrm>
            <a:off x="541611" y="2614427"/>
            <a:ext cx="9442648" cy="3978275"/>
          </a:xfrm>
        </p:spPr>
        <p:txBody>
          <a:bodyPr>
            <a:normAutofit/>
          </a:bodyPr>
          <a:lstStyle/>
          <a:p>
            <a:pPr marL="0" indent="0">
              <a:lnSpc>
                <a:spcPts val="3600"/>
              </a:lnSpc>
              <a:spcAft>
                <a:spcPts val="0"/>
              </a:spcAft>
              <a:buNone/>
            </a:pPr>
            <a:r>
              <a:rPr lang="en-US" sz="2000" dirty="0">
                <a:latin typeface="Segoe UI Light" panose="020B0502040204020203" pitchFamily="34" charset="0"/>
                <a:cs typeface="Segoe UI Light" panose="020B0502040204020203" pitchFamily="34" charset="0"/>
              </a:rPr>
              <a:t>Select the </a:t>
            </a:r>
            <a:r>
              <a:rPr lang="en-US" sz="2000" dirty="0">
                <a:solidFill>
                  <a:srgbClr val="D24726"/>
                </a:solidFill>
                <a:latin typeface="Segoe UI Semibold" panose="020B0702040204020203" pitchFamily="34" charset="0"/>
                <a:cs typeface="Segoe UI Semibold" panose="020B0702040204020203" pitchFamily="34" charset="0"/>
              </a:rPr>
              <a:t>Tell Me                   </a:t>
            </a:r>
            <a:r>
              <a:rPr lang="en-US" sz="2000" dirty="0">
                <a:latin typeface="Segoe UI Light" panose="020B0502040204020203" pitchFamily="34" charset="0"/>
                <a:cs typeface="Segoe UI Light" panose="020B0502040204020203" pitchFamily="34" charset="0"/>
              </a:rPr>
              <a:t>button and type what you want to know.</a:t>
            </a:r>
            <a:br>
              <a:rPr lang="en-US" sz="2000" dirty="0">
                <a:latin typeface="Segoe UI Light" panose="020B0502040204020203" pitchFamily="34" charset="0"/>
                <a:cs typeface="Segoe UI Light" panose="020B0502040204020203" pitchFamily="34" charset="0"/>
              </a:rPr>
            </a:b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r>
              <a:rPr lang="en-US" sz="2000" u="sng" dirty="0">
                <a:latin typeface="Segoe UI Light" panose="020B0502040204020203" pitchFamily="34" charset="0"/>
                <a:cs typeface="Segoe UI Light" panose="020B0502040204020203" pitchFamily="34" charset="0"/>
                <a:hlinkClick r:id="rId3" tooltip="Visit the PowerPoint team blog"/>
              </a:rPr>
              <a:t>Visit the PowerPoint team blog</a:t>
            </a:r>
            <a:endParaRPr lang="en-US" sz="2000" dirty="0">
              <a:latin typeface="Segoe UI Light" panose="020B0502040204020203" pitchFamily="34" charset="0"/>
              <a:cs typeface="Segoe UI Light" panose="020B0502040204020203" pitchFamily="34" charset="0"/>
            </a:endParaRPr>
          </a:p>
          <a:p>
            <a:pPr marL="0" indent="0">
              <a:lnSpc>
                <a:spcPts val="3600"/>
              </a:lnSpc>
              <a:spcBef>
                <a:spcPts val="1500"/>
              </a:spcBef>
              <a:spcAft>
                <a:spcPts val="0"/>
              </a:spcAft>
              <a:buNone/>
            </a:pPr>
            <a:r>
              <a:rPr lang="en-US" sz="2000" dirty="0">
                <a:latin typeface="Segoe UI Light" panose="020B0502040204020203" pitchFamily="34" charset="0"/>
                <a:cs typeface="Segoe UI Light" panose="020B0502040204020203" pitchFamily="34" charset="0"/>
                <a:hlinkClick r:id="rId4" tooltip="Go to free PowerPoint training"/>
              </a:rPr>
              <a:t>Go to free PowerPoint training</a:t>
            </a: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a:p>
            <a:pPr marL="0" indent="0">
              <a:lnSpc>
                <a:spcPts val="3600"/>
              </a:lnSpc>
              <a:spcAft>
                <a:spcPts val="0"/>
              </a:spcAft>
              <a:buNone/>
            </a:pPr>
            <a:endParaRPr lang="en-US" sz="2000" dirty="0">
              <a:latin typeface="Segoe UI Light" panose="020B0502040204020203" pitchFamily="34" charset="0"/>
              <a:cs typeface="Segoe UI Light" panose="020B0502040204020203" pitchFamily="34" charset="0"/>
            </a:endParaRPr>
          </a:p>
        </p:txBody>
      </p:sp>
      <p:pic>
        <p:nvPicPr>
          <p:cNvPr id="2" name="Picture 1" descr="Tell Me butto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13981" y="2350333"/>
            <a:ext cx="1269672" cy="1189747"/>
          </a:xfrm>
          <a:prstGeom prst="rect">
            <a:avLst/>
          </a:prstGeom>
        </p:spPr>
      </p:pic>
      <p:pic>
        <p:nvPicPr>
          <p:cNvPr id="8" name="Picture 7" descr="Arrow pointing right with a hyperlink to the PowerPoint team blog. Select the image to visit the PowerPoint team blog ">
            <a:hlinkClick r:id="rId6" tooltip="Select here to visit the PowerPoint team blog."/>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09398" y="3566804"/>
            <a:ext cx="661940" cy="661940"/>
          </a:xfrm>
          <a:prstGeom prst="rect">
            <a:avLst/>
          </a:prstGeom>
        </p:spPr>
      </p:pic>
      <p:pic>
        <p:nvPicPr>
          <p:cNvPr id="7" name="Picture 6" descr="Arrow pointing right with a hyperlink to free PowerPoint training. Select the image to access free PowerPoint training">
            <a:hlinkClick r:id="rId4" tooltip="Select here to go to free PowerPoint training."/>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09398" y="4252716"/>
            <a:ext cx="661940" cy="661940"/>
          </a:xfrm>
          <a:prstGeom prst="rect">
            <a:avLst/>
          </a:prstGeom>
        </p:spPr>
      </p:pic>
      <p:sp>
        <p:nvSpPr>
          <p:cNvPr id="9" name="TextBox 8"/>
          <p:cNvSpPr txBox="1"/>
          <p:nvPr/>
        </p:nvSpPr>
        <p:spPr>
          <a:xfrm>
            <a:off x="541611" y="5738132"/>
            <a:ext cx="6193971" cy="307777"/>
          </a:xfrm>
          <a:prstGeom prst="rect">
            <a:avLst/>
          </a:prstGeom>
          <a:noFill/>
        </p:spPr>
        <p:txBody>
          <a:bodyPr wrap="square" rtlCol="0">
            <a:spAutoFit/>
          </a:bodyPr>
          <a:lstStyle/>
          <a:p>
            <a:pPr algn="l"/>
            <a:r>
              <a:rPr lang="en-US" sz="1400" dirty="0">
                <a:latin typeface="Segoe UI Light" panose="020B0502040204020203" pitchFamily="34" charset="0"/>
                <a:cs typeface="Segoe UI Light" panose="020B0502040204020203" pitchFamily="34" charset="0"/>
              </a:rPr>
              <a:t>SELECT THE ARROW WHEN IN SLIDE SHOW MODE</a:t>
            </a:r>
          </a:p>
        </p:txBody>
      </p:sp>
      <p:pic>
        <p:nvPicPr>
          <p:cNvPr id="11" name="Picture 10" descr="Tell Me box suggestions"/>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08066" y="2761488"/>
            <a:ext cx="2476156" cy="2001277"/>
          </a:xfrm>
          <a:prstGeom prst="rect">
            <a:avLst/>
          </a:prstGeom>
        </p:spPr>
      </p:pic>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3EE4EA-81C0-48D0-BEBD-A2EFD6B38B4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563EE24-83AF-4B4D-B45B-11D1ECD4364A}">
  <ds:schemaRefs>
    <ds:schemaRef ds:uri="http://schemas.microsoft.com/sharepoint/v3/contenttype/forms"/>
  </ds:schemaRefs>
</ds:datastoreItem>
</file>

<file path=customXml/itemProps3.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{06124EE4-8014-4BD2-A6FA-84BDB9A08772}tf10001108_win32</Template>
  <TotalTime>122</TotalTime>
  <Words>829</Words>
  <Application>Microsoft Office PowerPoint</Application>
  <PresentationFormat>Widescreen</PresentationFormat>
  <Paragraphs>45</Paragraphs>
  <Slides>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Nunito</vt:lpstr>
      <vt:lpstr>Segoe UI</vt:lpstr>
      <vt:lpstr>Segoe UI Light</vt:lpstr>
      <vt:lpstr>Segoe UI Semibold</vt:lpstr>
      <vt:lpstr>Custom</vt:lpstr>
      <vt:lpstr>Electronic mails</vt:lpstr>
      <vt:lpstr>PowerPoint Presentation</vt:lpstr>
      <vt:lpstr>PowerPoint Presentation</vt:lpstr>
      <vt:lpstr>PowerPoint Presentation</vt:lpstr>
      <vt:lpstr>PowerPoint Presentation</vt:lpstr>
      <vt:lpstr>Working together in real time</vt:lpstr>
      <vt:lpstr>You’re an expert with Tell Me</vt:lpstr>
      <vt:lpstr>Explore without leaving your slides</vt:lpstr>
      <vt:lpstr>More questions about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rajesh gill</dc:creator>
  <cp:keywords/>
  <cp:lastModifiedBy>rajesh gill</cp:lastModifiedBy>
  <cp:revision>1</cp:revision>
  <dcterms:created xsi:type="dcterms:W3CDTF">2024-10-22T01:19:27Z</dcterms:created>
  <dcterms:modified xsi:type="dcterms:W3CDTF">2024-10-22T03:22:17Z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